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S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965192"/>
            <a:ext cx="7498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Workshop GitHub Copilot  |  Code Review · Unit Testing · Managing AI Credits  |  2 horas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9651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9A9A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9651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9A9A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8872" cy="5143500"/>
          </a:xfrm>
          <a:prstGeom prst="rect">
            <a:avLst/>
          </a:prstGeom>
          <a:solidFill>
            <a:srgbClr val="4A7EBB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371600"/>
            <a:ext cx="7863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Workshop GitHub Copilot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13232" y="2176272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BD0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 Review · Unit Testing · Managing AI Credits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2743200"/>
            <a:ext cx="1463040" cy="32004"/>
          </a:xfrm>
          <a:prstGeom prst="rect">
            <a:avLst/>
          </a:prstGeom>
          <a:solidFill>
            <a:srgbClr val="7FA8D6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2990088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9FBDD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Visual Studio Code  ·  github.com  ·  2 horas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9FBDD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Tú ejecutas. En tu máquina, en tu propio repositorio.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8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vengo a enseñarles a usar Copilot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F559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mayoría ya lo usa todos los días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4E5"/>
          </a:solidFill>
          <a:ln w="15875">
            <a:solidFill>
              <a:srgbClr val="B4530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81328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3B0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Vengo por tres cosas que casi nadie está usando, y que son las que separan a un equipo que escribe código más rápido de uno que entrega mejor software.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487168"/>
            <a:ext cx="2679192" cy="2057400"/>
          </a:xfrm>
          <a:prstGeom prst="roundRect">
            <a:avLst>
              <a:gd name="adj" fmla="val 2667"/>
            </a:avLst>
          </a:prstGeom>
          <a:solidFill>
            <a:srgbClr val="EEF3FB"/>
          </a:solidFill>
          <a:ln w="12700">
            <a:solidFill>
              <a:srgbClr val="2F559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03504" y="2578608"/>
            <a:ext cx="23865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" kern="0" dirty="0">
                <a:solidFill>
                  <a:srgbClr val="2F559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ETAPA 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03504" y="2798064"/>
            <a:ext cx="2386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 Review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03504" y="3108960"/>
            <a:ext cx="2386584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Cómo se revisa el código antes de que exista públicamente, y cómo le enseñas a la herramienta qué le importa a TU equipo.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236976" y="2487168"/>
            <a:ext cx="2679192" cy="2057400"/>
          </a:xfrm>
          <a:prstGeom prst="roundRect">
            <a:avLst>
              <a:gd name="adj" fmla="val 2667"/>
            </a:avLst>
          </a:prstGeom>
          <a:solidFill>
            <a:srgbClr val="E8F5E9"/>
          </a:solidFill>
          <a:ln w="12700">
            <a:solidFill>
              <a:srgbClr val="1A7F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83280" y="2578608"/>
            <a:ext cx="23865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" kern="0" dirty="0">
                <a:solidFill>
                  <a:srgbClr val="1A7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ETAPA B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383280" y="2798064"/>
            <a:ext cx="2386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Unit Testing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383280" y="3108960"/>
            <a:ext cx="2386584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Cómo se prueba código heredado que nadie entiende, y cómo las pruebas encuentran defectos que llevan años en producción.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16752" y="2487168"/>
            <a:ext cx="2679192" cy="2057400"/>
          </a:xfrm>
          <a:prstGeom prst="roundRect">
            <a:avLst>
              <a:gd name="adj" fmla="val 2667"/>
            </a:avLst>
          </a:prstGeom>
          <a:solidFill>
            <a:srgbClr val="FFF4E5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63056" y="2578608"/>
            <a:ext cx="23865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" kern="0" dirty="0">
                <a:solidFill>
                  <a:srgbClr val="B4530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ETAPA C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163056" y="2798064"/>
            <a:ext cx="2386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Managing AI Credits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163056" y="3108960"/>
            <a:ext cx="2386584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Cuánto cuesta todo lo anterior, dónde se ve, y las cuatro decisiones que más mueven ese número.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9651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9A9A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8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Qué te llevas en dos horas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F559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 tu propio repositorio, no en una presentación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51206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Artefacto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Por qué importa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 pull request revisado por Copilot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 hallazgos clasificados por severidad y al menos una corrección aplicada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Una suite de pruebas donde había cero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 cobertura medida, no estimada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Al menos un defecto real encontrado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En código heredado que lleva años en producción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 archivo de instrucciones escrito por ti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El único artefacto que sigue trabajando cuando la sesión termina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 aritmética del consumo de IA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Para explicarle a tu líder, con números, por qué una tarea cuesta lo que cuesta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9651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9A9A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8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Cómo funciona esta sesión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F559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Somos cincuenta, con experiencias muy distintas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4069080" cy="1463040"/>
          </a:xfrm>
          <a:prstGeom prst="roundRect">
            <a:avLst>
              <a:gd name="adj" fmla="val 3750"/>
            </a:avLst>
          </a:prstGeom>
          <a:solidFill>
            <a:srgbClr val="EEF3FB"/>
          </a:solidFill>
          <a:ln w="12700">
            <a:solidFill>
              <a:srgbClr val="2F559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03504" y="1417320"/>
            <a:ext cx="3776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" kern="0" dirty="0">
                <a:solidFill>
                  <a:srgbClr val="2F559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REGLA 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3504" y="1636776"/>
            <a:ext cx="37764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Copia los prompts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03504" y="1947672"/>
            <a:ext cx="377647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Están en PROMPTS.md del repositorio. Si todos partimos del mismo texto, las diferencias nos enseñan algo. Si cada quien improvisa, solo tenemos ruido.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17720" y="1325880"/>
            <a:ext cx="4069080" cy="1463040"/>
          </a:xfrm>
          <a:prstGeom prst="roundRect">
            <a:avLst>
              <a:gd name="adj" fmla="val 3750"/>
            </a:avLst>
          </a:prstGeom>
          <a:solidFill>
            <a:srgbClr val="E8F5E9"/>
          </a:solidFill>
          <a:ln w="12700">
            <a:solidFill>
              <a:srgbClr val="1A7F3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64024" y="1417320"/>
            <a:ext cx="3776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" kern="0" dirty="0">
                <a:solidFill>
                  <a:srgbClr val="1A7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REGLA 2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764024" y="1636776"/>
            <a:ext cx="37764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Lee antes de aceptar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764024" y="1947672"/>
            <a:ext cx="377647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Nada entra al código sin pasar por tu criterio. Ese filtro es justamente el músculo que venimos a ejercitar.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926080"/>
            <a:ext cx="4069080" cy="1600200"/>
          </a:xfrm>
          <a:prstGeom prst="roundRect">
            <a:avLst>
              <a:gd name="adj" fmla="val 3429"/>
            </a:avLst>
          </a:prstGeom>
          <a:solidFill>
            <a:srgbClr val="FFF4E5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03504" y="3017520"/>
            <a:ext cx="3776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" kern="0" dirty="0">
                <a:solidFill>
                  <a:srgbClr val="B4530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REGLA 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03504" y="3236976"/>
            <a:ext cx="37764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Ruta Base y ruta Extra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03504" y="3547872"/>
            <a:ext cx="3776472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Base la hacemos todos. Los Extra son opcionales, para quien va adelantado. Si algo falla en tu máquina, levanta la mano y pasa al siguiente Base. Nadie se queda atrás.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617720" y="2926080"/>
            <a:ext cx="4069080" cy="1600200"/>
          </a:xfrm>
          <a:prstGeom prst="roundRect">
            <a:avLst>
              <a:gd name="adj" fmla="val 3429"/>
            </a:avLst>
          </a:prstGeom>
          <a:solidFill>
            <a:srgbClr val="EEF3FB"/>
          </a:solidFill>
          <a:ln w="12700">
            <a:solidFill>
              <a:srgbClr val="2F559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64024" y="3017520"/>
            <a:ext cx="3776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" kern="0" dirty="0">
                <a:solidFill>
                  <a:srgbClr val="2F559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 REPOSITORIO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764024" y="3236976"/>
            <a:ext cx="37764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solo punto de partida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764024" y="3547872"/>
            <a:ext cx="3776472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github.com/tinocodemos/ghcp-workshop-calidad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Mismo código, mismos defectos, misma cobertura en cero para los cincuenta. Cualquier diferencia en el resultado viene de cómo usaste Copilot.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9651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9A9A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8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Agenda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F559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Las tres etapas comparten el mismo código y se encadenan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920240"/>
                <a:gridCol w="3840480"/>
                <a:gridCol w="16002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Etapa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Qué hacemos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Dónde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0–12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Apertura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Encuadre y verificación de entorno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Tu máquina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12–55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 · Code Review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Revisión local, triaje, instrucciones del equipo, pull request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VS Code → web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55–95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 · Unit Testing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 cero pruebas a cobertura medida, con defectos reales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VS Code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95–115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 · AI Credits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Tu consumo, la aritmética y las cuatro palancas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Web → VS Code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115–120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Cierre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Tres compromisos para el lunes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Sala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22452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2F559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 que revisas en A es lo que pruebas en B. Y C explica el costo de A y de B.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9651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9A9A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832104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B1F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 Review: de revisar al final</a:t>
            </a:r>
            <a:endParaRPr lang="en-US" sz="3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B1F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revisar desde el principio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57200" y="2304288"/>
            <a:ext cx="8001000" cy="0"/>
          </a:xfrm>
          <a:prstGeom prst="line">
            <a:avLst/>
          </a:prstGeom>
          <a:noFill/>
          <a:ln w="12700">
            <a:solidFill>
              <a:srgbClr val="AEB7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883664"/>
            <a:ext cx="1207008" cy="301752"/>
          </a:xfrm>
          <a:prstGeom prst="roundRect">
            <a:avLst>
              <a:gd name="adj" fmla="val 48485"/>
            </a:avLst>
          </a:prstGeom>
          <a:solidFill>
            <a:srgbClr val="1A7F37"/>
          </a:solidFill>
          <a:ln w="12700">
            <a:solidFill>
              <a:srgbClr val="1A7F3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883664"/>
            <a:ext cx="120700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Inicio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101852" y="2253996"/>
            <a:ext cx="100584" cy="100584"/>
          </a:xfrm>
          <a:prstGeom prst="ellipse">
            <a:avLst/>
          </a:prstGeom>
          <a:solidFill>
            <a:srgbClr val="1A7F37"/>
          </a:solidFill>
          <a:ln w="12700">
            <a:solidFill>
              <a:srgbClr val="1A7F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505456"/>
            <a:ext cx="153619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1B1F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Dónde empezamos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02920" y="3145536"/>
            <a:ext cx="1536192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5760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 cuello de botella no es la capacidad del equipo</a:t>
            </a:r>
            <a:endParaRPr lang="en-US" sz="10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5760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 el tiempo entre escribir y que alguien lo mire</a:t>
            </a:r>
            <a:endParaRPr lang="en-US" sz="10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5760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Para entonces el autor ya está en otra cosa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194560" y="1883664"/>
            <a:ext cx="1207008" cy="301752"/>
          </a:xfrm>
          <a:prstGeom prst="roundRect">
            <a:avLst>
              <a:gd name="adj" fmla="val 48485"/>
            </a:avLst>
          </a:prstGeom>
          <a:solidFill>
            <a:srgbClr val="1B1F23"/>
          </a:solidFill>
          <a:ln w="12700">
            <a:solidFill>
              <a:srgbClr val="1B1F2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194560" y="1883664"/>
            <a:ext cx="120700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Ejercicio A.1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7772" y="2253996"/>
            <a:ext cx="100584" cy="100584"/>
          </a:xfrm>
          <a:prstGeom prst="ellipse">
            <a:avLst/>
          </a:prstGeom>
          <a:solidFill>
            <a:srgbClr val="1B1F23"/>
          </a:solidFill>
          <a:ln w="12700">
            <a:solidFill>
              <a:srgbClr val="1B1F2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148840" y="2505456"/>
            <a:ext cx="153619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1B1F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Revisión local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148840" y="3145536"/>
            <a:ext cx="1536192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5760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Antes del commit, antes del push</a:t>
            </a:r>
            <a:endParaRPr lang="en-US" sz="10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5760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Copilot revisa el diff completo</a:t>
            </a:r>
            <a:endParaRPr lang="en-US" sz="10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5760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Anota cuántos hallazgos y de qué tipo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840480" y="1883664"/>
            <a:ext cx="1207008" cy="301752"/>
          </a:xfrm>
          <a:prstGeom prst="roundRect">
            <a:avLst>
              <a:gd name="adj" fmla="val 48485"/>
            </a:avLst>
          </a:prstGeom>
          <a:solidFill>
            <a:srgbClr val="1B1F23"/>
          </a:solidFill>
          <a:ln w="12700">
            <a:solidFill>
              <a:srgbClr val="1B1F2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40480" y="1883664"/>
            <a:ext cx="120700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Ejercicio A.2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393692" y="2253996"/>
            <a:ext cx="100584" cy="100584"/>
          </a:xfrm>
          <a:prstGeom prst="ellipse">
            <a:avLst/>
          </a:prstGeom>
          <a:solidFill>
            <a:srgbClr val="1B1F23"/>
          </a:solidFill>
          <a:ln w="12700">
            <a:solidFill>
              <a:srgbClr val="1B1F2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94760" y="2505456"/>
            <a:ext cx="153619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1B1F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Triaje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794760" y="3145536"/>
            <a:ext cx="1536192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5760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Ordena por severidad, no por orden de aparición</a:t>
            </a:r>
            <a:endParaRPr lang="en-US" sz="10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5760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Justifica en términos de negocio</a:t>
            </a:r>
            <a:endParaRPr lang="en-US" sz="10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5760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Cuál arreglas si solo tienes 10 minutos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0" y="1883664"/>
            <a:ext cx="1207008" cy="301752"/>
          </a:xfrm>
          <a:prstGeom prst="roundRect">
            <a:avLst>
              <a:gd name="adj" fmla="val 48485"/>
            </a:avLst>
          </a:prstGeom>
          <a:solidFill>
            <a:srgbClr val="1B1F23"/>
          </a:solidFill>
          <a:ln w="12700">
            <a:solidFill>
              <a:srgbClr val="1B1F2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0" y="1883664"/>
            <a:ext cx="120700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Ejercicio A.3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39612" y="2253996"/>
            <a:ext cx="100584" cy="100584"/>
          </a:xfrm>
          <a:prstGeom prst="ellipse">
            <a:avLst/>
          </a:prstGeom>
          <a:solidFill>
            <a:srgbClr val="1B1F23"/>
          </a:solidFill>
          <a:ln w="12700">
            <a:solidFill>
              <a:srgbClr val="1B1F2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40680" y="2505456"/>
            <a:ext cx="153619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1B1F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Reglas del equipo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440680" y="3145536"/>
            <a:ext cx="1536192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5760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Instrucciones versionadas junto al código</a:t>
            </a:r>
            <a:endParaRPr lang="en-US" sz="10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5760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Misma herramienta, mismo archivo</a:t>
            </a:r>
            <a:endParaRPr lang="en-US" sz="10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5760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Resultado completamente distinto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132320" y="1883664"/>
            <a:ext cx="1207008" cy="301752"/>
          </a:xfrm>
          <a:prstGeom prst="roundRect">
            <a:avLst>
              <a:gd name="adj" fmla="val 48485"/>
            </a:avLst>
          </a:prstGeom>
          <a:solidFill>
            <a:srgbClr val="1B1F23"/>
          </a:solidFill>
          <a:ln w="12700">
            <a:solidFill>
              <a:srgbClr val="1B1F2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32320" y="1883664"/>
            <a:ext cx="120700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Ejercicio A.4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685532" y="2253996"/>
            <a:ext cx="100584" cy="100584"/>
          </a:xfrm>
          <a:prstGeom prst="ellipse">
            <a:avLst/>
          </a:prstGeom>
          <a:solidFill>
            <a:srgbClr val="1B1F23"/>
          </a:solidFill>
          <a:ln w="12700">
            <a:solidFill>
              <a:srgbClr val="1B1F2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086600" y="2505456"/>
            <a:ext cx="153619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1B1F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Pull request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7086600" y="3145536"/>
            <a:ext cx="1536192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5760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 flujo real de tu organización</a:t>
            </a:r>
            <a:endParaRPr lang="en-US" sz="10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5760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Nivel de esfuerzo: Lite o Balanced</a:t>
            </a:r>
            <a:endParaRPr lang="en-US" sz="10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5760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Commit suggestion y Fix with Copilot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9651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9A9A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832104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B1F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Unit Testing: de cero pruebas</a:t>
            </a:r>
            <a:endParaRPr lang="en-US" sz="3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B1F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defectos encontrados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57200" y="2304288"/>
            <a:ext cx="8001000" cy="0"/>
          </a:xfrm>
          <a:prstGeom prst="line">
            <a:avLst/>
          </a:prstGeom>
          <a:noFill/>
          <a:ln w="12700">
            <a:solidFill>
              <a:srgbClr val="AEB7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883664"/>
            <a:ext cx="1207008" cy="301752"/>
          </a:xfrm>
          <a:prstGeom prst="roundRect">
            <a:avLst>
              <a:gd name="adj" fmla="val 48485"/>
            </a:avLst>
          </a:prstGeom>
          <a:solidFill>
            <a:srgbClr val="1A7F37"/>
          </a:solidFill>
          <a:ln w="12700">
            <a:solidFill>
              <a:srgbClr val="1A7F3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883664"/>
            <a:ext cx="120700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Inicio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101852" y="2253996"/>
            <a:ext cx="100584" cy="100584"/>
          </a:xfrm>
          <a:prstGeom prst="ellipse">
            <a:avLst/>
          </a:prstGeom>
          <a:solidFill>
            <a:srgbClr val="1A7F37"/>
          </a:solidFill>
          <a:ln w="12700">
            <a:solidFill>
              <a:srgbClr val="1A7F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505456"/>
            <a:ext cx="153619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1B1F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Dónde empezamos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02920" y="3145536"/>
            <a:ext cx="1536192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5760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pricing.js: variables r, b, tt y q</a:t>
            </a:r>
            <a:endParaRPr lang="en-US" sz="10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5760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Sin documentación y sin una sola prueba</a:t>
            </a:r>
            <a:endParaRPr lang="en-US" sz="10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5760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Nadie del equipo original sigue aquí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194560" y="1883664"/>
            <a:ext cx="1207008" cy="301752"/>
          </a:xfrm>
          <a:prstGeom prst="roundRect">
            <a:avLst>
              <a:gd name="adj" fmla="val 48485"/>
            </a:avLst>
          </a:prstGeom>
          <a:solidFill>
            <a:srgbClr val="1B1F23"/>
          </a:solidFill>
          <a:ln w="12700">
            <a:solidFill>
              <a:srgbClr val="1B1F2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194560" y="1883664"/>
            <a:ext cx="120700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Ejercicio B.1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7772" y="2253996"/>
            <a:ext cx="100584" cy="100584"/>
          </a:xfrm>
          <a:prstGeom prst="ellipse">
            <a:avLst/>
          </a:prstGeom>
          <a:solidFill>
            <a:srgbClr val="1B1F23"/>
          </a:solidFill>
          <a:ln w="12700">
            <a:solidFill>
              <a:srgbClr val="1B1F2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148840" y="2505456"/>
            <a:ext cx="153619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1B1F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Primera batería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148840" y="3145536"/>
            <a:ext cx="1536192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5760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/tests en modo Agent</a:t>
            </a:r>
            <a:endParaRPr lang="en-US" sz="10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5760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Cinco restricciones que ahorran turnos</a:t>
            </a:r>
            <a:endParaRPr lang="en-US" sz="10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5760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 agente escribe, corre y ajusta solo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840480" y="1883664"/>
            <a:ext cx="1207008" cy="301752"/>
          </a:xfrm>
          <a:prstGeom prst="roundRect">
            <a:avLst>
              <a:gd name="adj" fmla="val 48485"/>
            </a:avLst>
          </a:prstGeom>
          <a:solidFill>
            <a:srgbClr val="1B1F23"/>
          </a:solidFill>
          <a:ln w="12700">
            <a:solidFill>
              <a:srgbClr val="1B1F2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40480" y="1883664"/>
            <a:ext cx="120700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Ejercicio B.2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393692" y="2253996"/>
            <a:ext cx="100584" cy="100584"/>
          </a:xfrm>
          <a:prstGeom prst="ellipse">
            <a:avLst/>
          </a:prstGeom>
          <a:solidFill>
            <a:srgbClr val="1B1F23"/>
          </a:solidFill>
          <a:ln w="12700">
            <a:solidFill>
              <a:srgbClr val="1B1F2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94760" y="2505456"/>
            <a:ext cx="153619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1B1F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Casos límite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794760" y="3145536"/>
            <a:ext cx="1536192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5760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 resultado que espera el NEGOCIO</a:t>
            </a:r>
            <a:endParaRPr lang="en-US" sz="10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5760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el que produce el código actual</a:t>
            </a:r>
            <a:endParaRPr lang="en-US" sz="10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5760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Aparecen las pruebas en rojo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0" y="1883664"/>
            <a:ext cx="1207008" cy="301752"/>
          </a:xfrm>
          <a:prstGeom prst="roundRect">
            <a:avLst>
              <a:gd name="adj" fmla="val 48485"/>
            </a:avLst>
          </a:prstGeom>
          <a:solidFill>
            <a:srgbClr val="1B1F23"/>
          </a:solidFill>
          <a:ln w="12700">
            <a:solidFill>
              <a:srgbClr val="1B1F2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0" y="1883664"/>
            <a:ext cx="120700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Ejercicio B.3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39612" y="2253996"/>
            <a:ext cx="100584" cy="100584"/>
          </a:xfrm>
          <a:prstGeom prst="ellipse">
            <a:avLst/>
          </a:prstGeom>
          <a:solidFill>
            <a:srgbClr val="1B1F23"/>
          </a:solidFill>
          <a:ln w="12700">
            <a:solidFill>
              <a:srgbClr val="1B1F2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40680" y="2505456"/>
            <a:ext cx="153619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1B1F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Corrección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440680" y="3145536"/>
            <a:ext cx="1536192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5760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Las pruebas describen lo correcto</a:t>
            </a:r>
            <a:endParaRPr lang="en-US" sz="10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5760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"No cambies las pruebas"</a:t>
            </a:r>
            <a:endParaRPr lang="en-US" sz="10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5760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 criterio congelado antes de empezar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132320" y="1883664"/>
            <a:ext cx="1207008" cy="301752"/>
          </a:xfrm>
          <a:prstGeom prst="roundRect">
            <a:avLst>
              <a:gd name="adj" fmla="val 48485"/>
            </a:avLst>
          </a:prstGeom>
          <a:solidFill>
            <a:srgbClr val="1B1F23"/>
          </a:solidFill>
          <a:ln w="12700">
            <a:solidFill>
              <a:srgbClr val="1B1F2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32320" y="1883664"/>
            <a:ext cx="120700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Ejercicio B.4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685532" y="2253996"/>
            <a:ext cx="100584" cy="100584"/>
          </a:xfrm>
          <a:prstGeom prst="ellipse">
            <a:avLst/>
          </a:prstGeom>
          <a:solidFill>
            <a:srgbClr val="1B1F23"/>
          </a:solidFill>
          <a:ln w="12700">
            <a:solidFill>
              <a:srgbClr val="1B1F2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086600" y="2505456"/>
            <a:ext cx="153619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1B1F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Cobertura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7086600" y="3145536"/>
            <a:ext cx="1536192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5760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 cero a un número medido</a:t>
            </a:r>
            <a:endParaRPr lang="en-US" sz="10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5760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Qué ramas siguen sin cubrir</a:t>
            </a:r>
            <a:endParaRPr lang="en-US" sz="10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5760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Sin pruebas de relleno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9651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9A9A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832104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B1F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Managing AI Credits: de consumir</a:t>
            </a:r>
            <a:endParaRPr lang="en-US" sz="3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B1F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presupuestar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57200" y="2304288"/>
            <a:ext cx="8001000" cy="0"/>
          </a:xfrm>
          <a:prstGeom prst="line">
            <a:avLst/>
          </a:prstGeom>
          <a:noFill/>
          <a:ln w="12700">
            <a:solidFill>
              <a:srgbClr val="AEB7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883664"/>
            <a:ext cx="1207008" cy="301752"/>
          </a:xfrm>
          <a:prstGeom prst="roundRect">
            <a:avLst>
              <a:gd name="adj" fmla="val 48485"/>
            </a:avLst>
          </a:prstGeom>
          <a:solidFill>
            <a:srgbClr val="1A7F37"/>
          </a:solidFill>
          <a:ln w="12700">
            <a:solidFill>
              <a:srgbClr val="1A7F3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883664"/>
            <a:ext cx="120700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Inicio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101852" y="2253996"/>
            <a:ext cx="100584" cy="100584"/>
          </a:xfrm>
          <a:prstGeom prst="ellipse">
            <a:avLst/>
          </a:prstGeom>
          <a:solidFill>
            <a:srgbClr val="1A7F37"/>
          </a:solidFill>
          <a:ln w="12700">
            <a:solidFill>
              <a:srgbClr val="1A7F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505456"/>
            <a:ext cx="153619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1B1F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Dónde empezamos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02920" y="3145536"/>
            <a:ext cx="1536192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5760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Las dos etapas anteriores ya consumieron créditos</a:t>
            </a:r>
            <a:endParaRPr lang="en-US" sz="10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5760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Ahora vamos a leerlos</a:t>
            </a:r>
            <a:endParaRPr lang="en-US" sz="10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5760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Hablar de costo después de gastarlo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194560" y="1883664"/>
            <a:ext cx="1207008" cy="301752"/>
          </a:xfrm>
          <a:prstGeom prst="roundRect">
            <a:avLst>
              <a:gd name="adj" fmla="val 48485"/>
            </a:avLst>
          </a:prstGeom>
          <a:solidFill>
            <a:srgbClr val="1B1F23"/>
          </a:solidFill>
          <a:ln w="12700">
            <a:solidFill>
              <a:srgbClr val="1B1F2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194560" y="1883664"/>
            <a:ext cx="120700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Ejercicio C.1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7772" y="2253996"/>
            <a:ext cx="100584" cy="100584"/>
          </a:xfrm>
          <a:prstGeom prst="ellipse">
            <a:avLst/>
          </a:prstGeom>
          <a:solidFill>
            <a:srgbClr val="1B1F23"/>
          </a:solidFill>
          <a:ln w="12700">
            <a:solidFill>
              <a:srgbClr val="1B1F2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148840" y="2505456"/>
            <a:ext cx="153619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1B1F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 consumo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148840" y="3145536"/>
            <a:ext cx="1536192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5760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Billing and licensing en github.com</a:t>
            </a:r>
            <a:endParaRPr lang="en-US" sz="10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5760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Créditos del ciclo y qué te consumió más</a:t>
            </a:r>
            <a:endParaRPr lang="en-US" sz="10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5760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Fecha de reinicio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840480" y="1883664"/>
            <a:ext cx="1207008" cy="301752"/>
          </a:xfrm>
          <a:prstGeom prst="roundRect">
            <a:avLst>
              <a:gd name="adj" fmla="val 48485"/>
            </a:avLst>
          </a:prstGeom>
          <a:solidFill>
            <a:srgbClr val="1B1F23"/>
          </a:solidFill>
          <a:ln w="12700">
            <a:solidFill>
              <a:srgbClr val="1B1F2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40480" y="1883664"/>
            <a:ext cx="120700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Ejercicio C.2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393692" y="2253996"/>
            <a:ext cx="100584" cy="100584"/>
          </a:xfrm>
          <a:prstGeom prst="ellipse">
            <a:avLst/>
          </a:prstGeom>
          <a:solidFill>
            <a:srgbClr val="1B1F23"/>
          </a:solidFill>
          <a:ln w="12700">
            <a:solidFill>
              <a:srgbClr val="1B1F2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94760" y="2505456"/>
            <a:ext cx="153619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1B1F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aritmética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794760" y="3145536"/>
            <a:ext cx="1536192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5760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crédito = 1 centavo de dólar</a:t>
            </a:r>
            <a:endParaRPr lang="en-US" sz="10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5760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Bolsa común, no cubetas individuales</a:t>
            </a:r>
            <a:endParaRPr lang="en-US" sz="10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5760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 autocompletado es gratis e ilimitado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0" y="1883664"/>
            <a:ext cx="1207008" cy="301752"/>
          </a:xfrm>
          <a:prstGeom prst="roundRect">
            <a:avLst>
              <a:gd name="adj" fmla="val 48485"/>
            </a:avLst>
          </a:prstGeom>
          <a:solidFill>
            <a:srgbClr val="1B1F23"/>
          </a:solidFill>
          <a:ln w="12700">
            <a:solidFill>
              <a:srgbClr val="1B1F2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0" y="1883664"/>
            <a:ext cx="120700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Ejercicio C.3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39612" y="2253996"/>
            <a:ext cx="100584" cy="100584"/>
          </a:xfrm>
          <a:prstGeom prst="ellipse">
            <a:avLst/>
          </a:prstGeom>
          <a:solidFill>
            <a:srgbClr val="1B1F23"/>
          </a:solidFill>
          <a:ln w="12700">
            <a:solidFill>
              <a:srgbClr val="1B1F2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40680" y="2505456"/>
            <a:ext cx="153619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1B1F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Dos costos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440680" y="3145536"/>
            <a:ext cx="1536192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5760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misma tarea con dos modelos</a:t>
            </a:r>
            <a:endParaRPr lang="en-US" sz="10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5760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 contra el más potente</a:t>
            </a:r>
            <a:endParaRPr lang="en-US" sz="10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5760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Factor de 10x a 40x entre ellos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132320" y="1883664"/>
            <a:ext cx="1207008" cy="301752"/>
          </a:xfrm>
          <a:prstGeom prst="roundRect">
            <a:avLst>
              <a:gd name="adj" fmla="val 48485"/>
            </a:avLst>
          </a:prstGeom>
          <a:solidFill>
            <a:srgbClr val="1B1F23"/>
          </a:solidFill>
          <a:ln w="12700">
            <a:solidFill>
              <a:srgbClr val="1B1F2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32320" y="1883664"/>
            <a:ext cx="120700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Ejercicio C.5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685532" y="2253996"/>
            <a:ext cx="100584" cy="100584"/>
          </a:xfrm>
          <a:prstGeom prst="ellipse">
            <a:avLst/>
          </a:prstGeom>
          <a:solidFill>
            <a:srgbClr val="1B1F23"/>
          </a:solidFill>
          <a:ln w="12700">
            <a:solidFill>
              <a:srgbClr val="1B1F2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086600" y="2505456"/>
            <a:ext cx="153619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1B1F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Instrucciones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7086600" y="3145536"/>
            <a:ext cx="1536192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5760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Convierte lo aprendido en reglas</a:t>
            </a:r>
            <a:endParaRPr lang="en-US" sz="10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5760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Cinco líneas específicas de tu repo</a:t>
            </a:r>
            <a:endParaRPr lang="en-US" sz="10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5760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Sigue ahorrando después de hoy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9651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9A9A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8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idea que conecta las tres etapas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5333"/>
            </a:avLst>
          </a:prstGeom>
          <a:solidFill>
            <a:srgbClr val="E8F5E9"/>
          </a:solidFill>
          <a:ln w="19050">
            <a:solidFill>
              <a:srgbClr val="1A7F3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371600"/>
            <a:ext cx="7680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1B5E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repositorio con pruebas, linter y revisión automática consume menos IA que uno sin ellas,</a:t>
            </a:r>
            <a:endParaRPr lang="en-US" sz="17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1B5E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haciendo exactamente el mismo trabajo.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457200" y="2788920"/>
            <a:ext cx="2679192" cy="1737360"/>
          </a:xfrm>
          <a:prstGeom prst="roundRect">
            <a:avLst>
              <a:gd name="adj" fmla="val 3158"/>
            </a:avLst>
          </a:prstGeom>
          <a:solidFill>
            <a:srgbClr val="FDECEA"/>
          </a:solidFill>
          <a:ln w="12700">
            <a:solidFill>
              <a:srgbClr val="B0002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2916936"/>
            <a:ext cx="2386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Sin guardarraíles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03504" y="3246120"/>
            <a:ext cx="2386584" cy="1170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 agente no tiene señal objetiva de éxito. Construye sobre errores, encadena corridas equivocadas y tú pagas cada una.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236976" y="2788920"/>
            <a:ext cx="2679192" cy="1737360"/>
          </a:xfrm>
          <a:prstGeom prst="roundRect">
            <a:avLst>
              <a:gd name="adj" fmla="val 3158"/>
            </a:avLst>
          </a:prstGeom>
          <a:solidFill>
            <a:srgbClr val="E8F5E9"/>
          </a:solidFill>
          <a:ln w="12700">
            <a:solidFill>
              <a:srgbClr val="1A7F3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83280" y="2916936"/>
            <a:ext cx="2386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 guardarraíles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383280" y="3246120"/>
            <a:ext cx="2386584" cy="1170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Las pruebas le dicen cuándo terminó. Corrige en el mismo turno en lugar de en la siguiente sesión.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016752" y="2788920"/>
            <a:ext cx="2679192" cy="1737360"/>
          </a:xfrm>
          <a:prstGeom prst="roundRect">
            <a:avLst>
              <a:gd name="adj" fmla="val 3158"/>
            </a:avLst>
          </a:prstGeom>
          <a:solidFill>
            <a:srgbClr val="EEF3FB"/>
          </a:solidFill>
          <a:ln w="12700">
            <a:solidFill>
              <a:srgbClr val="2F559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63056" y="2916936"/>
            <a:ext cx="2386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conclusión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163056" y="3246120"/>
            <a:ext cx="2386584" cy="1170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Calidad y costo apuntan en la misma dirección, no en direcciones opuestas. Por eso las tres etapas van juntas.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9651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9A9A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8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Arrancamos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F559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Dos comandos, ahora mismo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280160" y="1417320"/>
            <a:ext cx="6583680" cy="1371600"/>
          </a:xfrm>
          <a:prstGeom prst="roundRect">
            <a:avLst>
              <a:gd name="adj" fmla="val 5333"/>
            </a:avLst>
          </a:prstGeom>
          <a:solidFill>
            <a:srgbClr val="F7F9FC"/>
          </a:solidFill>
          <a:ln w="15875">
            <a:solidFill>
              <a:srgbClr val="2F559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554480" y="1600200"/>
            <a:ext cx="6035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b="1" dirty="0">
                <a:solidFill>
                  <a:srgbClr val="1F38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verifica</a:t>
            </a:r>
            <a:endParaRPr lang="en-US" sz="2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200" b="1" dirty="0">
                <a:solidFill>
                  <a:srgbClr val="1F38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test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2971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F559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 segundo debe decir "No tests found". Ese cero es nuestro punto de partida.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3611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4530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¿A quién le falló algo?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9651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9A9A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Workshop GitHub Copilot — Aperturas de etapa</dc:title>
  <dc:subject>PptxGenJS Presentation</dc:subject>
  <dc:creator>Workshop GitHub Copilot</dc:creator>
  <cp:lastModifiedBy>Workshop GitHub Copilot</cp:lastModifiedBy>
  <cp:revision>1</cp:revision>
  <dcterms:created xsi:type="dcterms:W3CDTF">2026-09-21T19:35:48Z</dcterms:created>
  <dcterms:modified xsi:type="dcterms:W3CDTF">2026-09-21T19:35:48Z</dcterms:modified>
</cp:coreProperties>
</file>